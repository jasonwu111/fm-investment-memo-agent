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17B7A6"/>
            </a:solidFill>
            <a:effectLst/>
          </c:spPr>
          <c:invertIfNegative val="0"/>
          <c:dLbls>
            <c:numFmt formatCode="$0.0&quot;B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2027</c:v>
                  </c:pt>
                  <c:pt idx="2">
                    <c:v>2030</c:v>
                  </c:pt>
                  <c:pt idx="3">
                    <c:v>2034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2.4</c:v>
                </c:pt>
                <c:pt idx="1">
                  <c:v>5.9</c:v>
                </c:pt>
                <c:pt idx="2">
                  <c:v>14.4</c:v>
                </c:pt>
                <c:pt idx="3">
                  <c:v>47.5</c:v>
                </c:pt>
              </c:numCache>
            </c:numRef>
          </c:val>
        </c:ser>
        <c:dLbls>
          <c:numFmt formatCode="$0.0&quot;B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image" Target="../media/image-1-4.png"/><Relationship Id="rId6" Type="http://schemas.openxmlformats.org/officeDocument/2006/relationships/image" Target="../media/image-1-5.png"/><Relationship Id="rId7" Type="http://schemas.openxmlformats.org/officeDocument/2006/relationships/image" Target="../media/image-1-6.png"/><Relationship Id="rId8" Type="http://schemas.openxmlformats.org/officeDocument/2006/relationships/image" Target="../media/image-1-7.png"/><Relationship Id="rId9" Type="http://schemas.openxmlformats.org/officeDocument/2006/relationships/image" Target="../media/image-1-8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AI Is Scaling — But the Moat Is Moving Up the Stack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accelerating, but the value pool is shifting from standalone voice generation toward full-stack agents and enterprise workflows.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EXPANDING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2240280"/>
          <a:ext cx="36576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731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agents — global market size (USD B). Source: market.us (2025).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5120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~35% CAGR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vs. ~30% for standalone voice generation.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34340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TO STANDALONE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43400" y="228600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280" y="2374880"/>
            <a:ext cx="151425" cy="1514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00600" y="22311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 bundling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800600" y="2542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built into big AI platforms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343400" y="304495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280" y="3133832"/>
            <a:ext cx="151425" cy="1514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00600" y="2990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TTS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800600" y="33009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models keep improving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343400" y="380390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280" y="3892784"/>
            <a:ext cx="151425" cy="1514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00600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convergence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800600" y="40599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Naturalness &amp; latency commoditizing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343400" y="456285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2280" y="4651736"/>
            <a:ext cx="151425" cy="15142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800600" y="4507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switching cost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4800600" y="48188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access via APIs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813816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VALUE MOVES UP-STACK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8138160" y="2286000"/>
            <a:ext cx="329184" cy="329184"/>
          </a:xfrm>
          <a:prstGeom prst="ellipse">
            <a:avLst/>
          </a:prstGeom>
          <a:solidFill>
            <a:srgbClr val="17B7A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7040" y="2374880"/>
            <a:ext cx="151425" cy="15142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595360" y="22311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Integration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8595360" y="2542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payments, scheduling, ticketing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8138160" y="3044952"/>
            <a:ext cx="329184" cy="329184"/>
          </a:xfrm>
          <a:prstGeom prst="ellipse">
            <a:avLst/>
          </a:prstGeom>
          <a:solidFill>
            <a:srgbClr val="17B7A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7040" y="3133832"/>
            <a:ext cx="151425" cy="15142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595360" y="2990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Expertise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8595360" y="33009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Healthcare, finance, insurance depth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8138160" y="3803904"/>
            <a:ext cx="329184" cy="329184"/>
          </a:xfrm>
          <a:prstGeom prst="ellipse">
            <a:avLst/>
          </a:prstGeom>
          <a:solidFill>
            <a:srgbClr val="17B7A6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7040" y="3892784"/>
            <a:ext cx="151425" cy="151425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8595360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Governance</a:t>
            </a:r>
            <a:endParaRPr lang="en-US" sz="1250" dirty="0"/>
          </a:p>
        </p:txBody>
      </p:sp>
      <p:sp>
        <p:nvSpPr>
          <p:cNvPr id="37" name="Text 27"/>
          <p:cNvSpPr/>
          <p:nvPr/>
        </p:nvSpPr>
        <p:spPr>
          <a:xfrm>
            <a:off x="8595360" y="40599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audit logs, human handoff</a:t>
            </a:r>
            <a:endParaRPr lang="en-US" sz="1050" dirty="0"/>
          </a:p>
        </p:txBody>
      </p:sp>
      <p:sp>
        <p:nvSpPr>
          <p:cNvPr id="38" name="Shape 28"/>
          <p:cNvSpPr/>
          <p:nvPr/>
        </p:nvSpPr>
        <p:spPr>
          <a:xfrm>
            <a:off x="8138160" y="4562856"/>
            <a:ext cx="329184" cy="329184"/>
          </a:xfrm>
          <a:prstGeom prst="ellipse">
            <a:avLst/>
          </a:prstGeom>
          <a:solidFill>
            <a:srgbClr val="17B7A6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7040" y="4651736"/>
            <a:ext cx="151425" cy="151425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8595360" y="4507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 Data</a:t>
            </a:r>
            <a:endParaRPr lang="en-US" sz="1250" dirty="0"/>
          </a:p>
        </p:txBody>
      </p:sp>
      <p:sp>
        <p:nvSpPr>
          <p:cNvPr id="41" name="Text 30"/>
          <p:cNvSpPr/>
          <p:nvPr/>
        </p:nvSpPr>
        <p:spPr>
          <a:xfrm>
            <a:off x="8595360" y="48188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ties, call data, feedback loops</a:t>
            </a:r>
            <a:endParaRPr lang="en-US" sz="1050" dirty="0"/>
          </a:p>
        </p:txBody>
      </p:sp>
      <p:sp>
        <p:nvSpPr>
          <p:cNvPr id="42" name="Shape 31"/>
          <p:cNvSpPr/>
          <p:nvPr/>
        </p:nvSpPr>
        <p:spPr>
          <a:xfrm>
            <a:off x="548640" y="58064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21A33"/>
          </a:solidFill>
          <a:ln/>
        </p:spPr>
      </p:sp>
      <p:sp>
        <p:nvSpPr>
          <p:cNvPr id="43" name="Text 32"/>
          <p:cNvSpPr/>
          <p:nvPr/>
        </p:nvSpPr>
        <p:spPr>
          <a:xfrm>
            <a:off x="868680" y="580644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spc="100" kern="0" dirty="0">
                <a:solidFill>
                  <a:srgbClr val="17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TAKEAWAY   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can become a large market, but standalone model economics may compress. Winners convert model leadership into workflow ownership, enterprise distribution, and proprietary data.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2026-07-30T00:51:40Z</dcterms:created>
  <dcterms:modified xsi:type="dcterms:W3CDTF">2026-07-30T00:51:40Z</dcterms:modified>
</cp:coreProperties>
</file>