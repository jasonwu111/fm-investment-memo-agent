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1481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4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ROLE  ·  PRIVATE-MARKETS (ALTERNATIVES)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3504" y="69494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Evaluating a Fund on the Private-Markets Team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supported live fund evaluations across venture, growth, LBO and special situations — where the team's job is to underwrite a manager independently, not simply summarize the pitch.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395728"/>
            <a:ext cx="2697480" cy="3035808"/>
          </a:xfrm>
          <a:prstGeom prst="roundRect">
            <a:avLst>
              <a:gd name="adj" fmla="val 2712"/>
            </a:avLst>
          </a:prstGeom>
          <a:solidFill>
            <a:srgbClr val="EEEBE5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578608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spc="100" kern="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MANAGER-PROVIDED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b="1" spc="100" kern="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59536" y="3392424"/>
            <a:ext cx="73152" cy="73152"/>
          </a:xfrm>
          <a:prstGeom prst="ellipse">
            <a:avLst/>
          </a:prstGeom>
          <a:solidFill>
            <a:srgbClr val="8A929C"/>
          </a:solidFill>
          <a:ln/>
        </p:spPr>
      </p:sp>
      <p:sp>
        <p:nvSpPr>
          <p:cNvPr id="9" name="Text 7"/>
          <p:cNvSpPr/>
          <p:nvPr/>
        </p:nvSpPr>
        <p:spPr>
          <a:xfrm>
            <a:off x="1042416" y="3264408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A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placement memorandum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59536" y="3776472"/>
            <a:ext cx="73152" cy="73152"/>
          </a:xfrm>
          <a:prstGeom prst="ellipse">
            <a:avLst/>
          </a:prstGeom>
          <a:solidFill>
            <a:srgbClr val="8A929C"/>
          </a:solidFill>
          <a:ln/>
        </p:spPr>
      </p:sp>
      <p:sp>
        <p:nvSpPr>
          <p:cNvPr id="11" name="Text 9"/>
          <p:cNvSpPr/>
          <p:nvPr/>
        </p:nvSpPr>
        <p:spPr>
          <a:xfrm>
            <a:off x="1042416" y="3648456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A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terms &amp; legal documents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59536" y="4160520"/>
            <a:ext cx="73152" cy="73152"/>
          </a:xfrm>
          <a:prstGeom prst="ellipse">
            <a:avLst/>
          </a:prstGeom>
          <a:solidFill>
            <a:srgbClr val="8A929C"/>
          </a:solidFill>
          <a:ln/>
        </p:spPr>
      </p:sp>
      <p:sp>
        <p:nvSpPr>
          <p:cNvPr id="13" name="Text 11"/>
          <p:cNvSpPr/>
          <p:nvPr/>
        </p:nvSpPr>
        <p:spPr>
          <a:xfrm>
            <a:off x="1042416" y="4032504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A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strategy materials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59536" y="4544568"/>
            <a:ext cx="73152" cy="73152"/>
          </a:xfrm>
          <a:prstGeom prst="ellipse">
            <a:avLst/>
          </a:prstGeom>
          <a:solidFill>
            <a:srgbClr val="8A929C"/>
          </a:solidFill>
          <a:ln/>
        </p:spPr>
      </p:sp>
      <p:sp>
        <p:nvSpPr>
          <p:cNvPr id="15" name="Text 13"/>
          <p:cNvSpPr/>
          <p:nvPr/>
        </p:nvSpPr>
        <p:spPr>
          <a:xfrm>
            <a:off x="1042416" y="4416552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A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Investment-process descriptions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59536" y="4928616"/>
            <a:ext cx="73152" cy="73152"/>
          </a:xfrm>
          <a:prstGeom prst="ellipse">
            <a:avLst/>
          </a:prstGeom>
          <a:solidFill>
            <a:srgbClr val="8A929C"/>
          </a:solidFill>
          <a:ln/>
        </p:spPr>
      </p:sp>
      <p:sp>
        <p:nvSpPr>
          <p:cNvPr id="17" name="Text 15"/>
          <p:cNvSpPr/>
          <p:nvPr/>
        </p:nvSpPr>
        <p:spPr>
          <a:xfrm>
            <a:off x="1042416" y="480060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A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track record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41248" y="5047488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inputs — not yet a conclusion.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11880" y="2148840"/>
            <a:ext cx="4343400" cy="3456432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7E3DC"/>
            </a:solidFill>
            <a:prstDash val="solid"/>
          </a:ln>
          <a:effectLst>
            <a:outerShdw sx="100000" sy="100000" kx="0" ky="0" algn="bl" rotWithShape="0" blurRad="139700" dist="50800" dir="5400000">
              <a:srgbClr val="5A5148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867912" y="2368296"/>
            <a:ext cx="3831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spc="50" kern="0" dirty="0">
                <a:solidFill>
                  <a:srgbClr val="E14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UNDERWRITING QUESTIONS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3867912" y="2898648"/>
            <a:ext cx="91440" cy="91440"/>
          </a:xfrm>
          <a:prstGeom prst="rect">
            <a:avLst/>
          </a:prstGeom>
          <a:solidFill>
            <a:srgbClr val="E1481F"/>
          </a:solidFill>
          <a:ln/>
        </p:spPr>
      </p:sp>
      <p:sp>
        <p:nvSpPr>
          <p:cNvPr id="22" name="Text 20"/>
          <p:cNvSpPr/>
          <p:nvPr/>
        </p:nvSpPr>
        <p:spPr>
          <a:xfrm>
            <a:off x="4069080" y="280720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069080" y="304495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Differentiated and appropriate for the market?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867912" y="3342132"/>
            <a:ext cx="91440" cy="91440"/>
          </a:xfrm>
          <a:prstGeom prst="rect">
            <a:avLst/>
          </a:prstGeom>
          <a:solidFill>
            <a:srgbClr val="E1481F"/>
          </a:solidFill>
          <a:ln/>
        </p:spPr>
      </p:sp>
      <p:sp>
        <p:nvSpPr>
          <p:cNvPr id="25" name="Text 23"/>
          <p:cNvSpPr/>
          <p:nvPr/>
        </p:nvSpPr>
        <p:spPr>
          <a:xfrm>
            <a:off x="4069080" y="325069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069080" y="348843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and repeatable investing experience?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867912" y="3785616"/>
            <a:ext cx="91440" cy="91440"/>
          </a:xfrm>
          <a:prstGeom prst="rect">
            <a:avLst/>
          </a:prstGeom>
          <a:solidFill>
            <a:srgbClr val="E1481F"/>
          </a:solidFill>
          <a:ln/>
        </p:spPr>
      </p:sp>
      <p:sp>
        <p:nvSpPr>
          <p:cNvPr id="28" name="Text 26"/>
          <p:cNvSpPr/>
          <p:nvPr/>
        </p:nvSpPr>
        <p:spPr>
          <a:xfrm>
            <a:off x="4069080" y="369417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Key-Person Risk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069080" y="393192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Overly reliant on a few individuals?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867912" y="4229100"/>
            <a:ext cx="91440" cy="91440"/>
          </a:xfrm>
          <a:prstGeom prst="rect">
            <a:avLst/>
          </a:prstGeom>
          <a:solidFill>
            <a:srgbClr val="E1481F"/>
          </a:solidFill>
          <a:ln/>
        </p:spPr>
      </p:sp>
      <p:sp>
        <p:nvSpPr>
          <p:cNvPr id="31" name="Text 29"/>
          <p:cNvSpPr/>
          <p:nvPr/>
        </p:nvSpPr>
        <p:spPr>
          <a:xfrm>
            <a:off x="4069080" y="413766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Process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069080" y="437540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Disciplined and consistent decisions?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867912" y="4672584"/>
            <a:ext cx="91440" cy="91440"/>
          </a:xfrm>
          <a:prstGeom prst="rect">
            <a:avLst/>
          </a:prstGeom>
          <a:solidFill>
            <a:srgbClr val="E1481F"/>
          </a:solidFill>
          <a:ln/>
        </p:spPr>
      </p:sp>
      <p:sp>
        <p:nvSpPr>
          <p:cNvPr id="34" name="Text 32"/>
          <p:cNvSpPr/>
          <p:nvPr/>
        </p:nvSpPr>
        <p:spPr>
          <a:xfrm>
            <a:off x="4069080" y="458114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Record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069080" y="481888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Credible and repeatable performance?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867912" y="5116068"/>
            <a:ext cx="91440" cy="91440"/>
          </a:xfrm>
          <a:prstGeom prst="rect">
            <a:avLst/>
          </a:prstGeom>
          <a:solidFill>
            <a:srgbClr val="E1481F"/>
          </a:solidFill>
          <a:ln/>
        </p:spPr>
      </p:sp>
      <p:sp>
        <p:nvSpPr>
          <p:cNvPr id="37" name="Text 35"/>
          <p:cNvSpPr/>
          <p:nvPr/>
        </p:nvSpPr>
        <p:spPr>
          <a:xfrm>
            <a:off x="4069080" y="50246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Environment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069080" y="526237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attractive in today's conditions?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247888" y="19385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14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claims are tested — not simply repeated.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229600" y="2395728"/>
            <a:ext cx="3566160" cy="3035808"/>
          </a:xfrm>
          <a:prstGeom prst="roundRect">
            <a:avLst>
              <a:gd name="adj" fmla="val 2410"/>
            </a:avLst>
          </a:prstGeom>
          <a:solidFill>
            <a:srgbClr val="F6F3EE"/>
          </a:solidFill>
          <a:ln/>
        </p:spPr>
      </p:sp>
      <p:sp>
        <p:nvSpPr>
          <p:cNvPr id="41" name="Text 39"/>
          <p:cNvSpPr/>
          <p:nvPr/>
        </p:nvSpPr>
        <p:spPr>
          <a:xfrm>
            <a:off x="8449056" y="2596896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VALIDATION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449056" y="3182112"/>
            <a:ext cx="292608" cy="292608"/>
          </a:xfrm>
          <a:prstGeom prst="ellipse">
            <a:avLst/>
          </a:prstGeom>
          <a:solidFill>
            <a:srgbClr val="E1481F"/>
          </a:solidFill>
          <a:ln/>
        </p:spPr>
      </p:sp>
      <p:pic>
        <p:nvPicPr>
          <p:cNvPr id="4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0986" y="3264042"/>
            <a:ext cx="128748" cy="128748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8851392" y="314553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and vintage benchmarking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8449056" y="3639312"/>
            <a:ext cx="292608" cy="292608"/>
          </a:xfrm>
          <a:prstGeom prst="ellipse">
            <a:avLst/>
          </a:prstGeom>
          <a:solidFill>
            <a:srgbClr val="E1481F"/>
          </a:solidFill>
          <a:ln/>
        </p:spPr>
      </p:sp>
      <p:pic>
        <p:nvPicPr>
          <p:cNvPr id="4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0986" y="3721242"/>
            <a:ext cx="128748" cy="128748"/>
          </a:xfrm>
          <a:prstGeom prst="rect">
            <a:avLst/>
          </a:prstGeom>
        </p:spPr>
      </p:pic>
      <p:sp>
        <p:nvSpPr>
          <p:cNvPr id="47" name="Text 43"/>
          <p:cNvSpPr/>
          <p:nvPr/>
        </p:nvSpPr>
        <p:spPr>
          <a:xfrm>
            <a:off x="8851392" y="360273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Due-diligence calls</a:t>
            </a:r>
            <a:endParaRPr lang="en-US" sz="1200" dirty="0"/>
          </a:p>
        </p:txBody>
      </p:sp>
      <p:sp>
        <p:nvSpPr>
          <p:cNvPr id="48" name="Shape 44"/>
          <p:cNvSpPr/>
          <p:nvPr/>
        </p:nvSpPr>
        <p:spPr>
          <a:xfrm>
            <a:off x="8449056" y="4096512"/>
            <a:ext cx="292608" cy="292608"/>
          </a:xfrm>
          <a:prstGeom prst="ellipse">
            <a:avLst/>
          </a:prstGeom>
          <a:solidFill>
            <a:srgbClr val="E1481F"/>
          </a:solidFill>
          <a:ln/>
        </p:spPr>
      </p:sp>
      <p:pic>
        <p:nvPicPr>
          <p:cNvPr id="4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0986" y="4178442"/>
            <a:ext cx="128748" cy="128748"/>
          </a:xfrm>
          <a:prstGeom prst="rect">
            <a:avLst/>
          </a:prstGeom>
        </p:spPr>
      </p:pic>
      <p:sp>
        <p:nvSpPr>
          <p:cNvPr id="50" name="Text 45"/>
          <p:cNvSpPr/>
          <p:nvPr/>
        </p:nvSpPr>
        <p:spPr>
          <a:xfrm>
            <a:off x="8851392" y="405993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market analysis</a:t>
            </a:r>
            <a:endParaRPr lang="en-US" sz="1200" dirty="0"/>
          </a:p>
        </p:txBody>
      </p:sp>
      <p:sp>
        <p:nvSpPr>
          <p:cNvPr id="51" name="Shape 46"/>
          <p:cNvSpPr/>
          <p:nvPr/>
        </p:nvSpPr>
        <p:spPr>
          <a:xfrm>
            <a:off x="8449056" y="4553712"/>
            <a:ext cx="292608" cy="292608"/>
          </a:xfrm>
          <a:prstGeom prst="ellipse">
            <a:avLst/>
          </a:prstGeom>
          <a:solidFill>
            <a:srgbClr val="E1481F"/>
          </a:solidFill>
          <a:ln/>
        </p:spPr>
      </p:sp>
      <p:pic>
        <p:nvPicPr>
          <p:cNvPr id="5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0986" y="4635642"/>
            <a:ext cx="128748" cy="128748"/>
          </a:xfrm>
          <a:prstGeom prst="rect">
            <a:avLst/>
          </a:prstGeom>
        </p:spPr>
      </p:pic>
      <p:sp>
        <p:nvSpPr>
          <p:cNvPr id="53" name="Text 47"/>
          <p:cNvSpPr/>
          <p:nvPr/>
        </p:nvSpPr>
        <p:spPr>
          <a:xfrm>
            <a:off x="8851392" y="451713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Cross-document consistency checks</a:t>
            </a:r>
            <a:endParaRPr lang="en-US" sz="1200" dirty="0"/>
          </a:p>
        </p:txBody>
      </p:sp>
      <p:sp>
        <p:nvSpPr>
          <p:cNvPr id="54" name="Shape 48"/>
          <p:cNvSpPr/>
          <p:nvPr/>
        </p:nvSpPr>
        <p:spPr>
          <a:xfrm>
            <a:off x="8449056" y="5010912"/>
            <a:ext cx="292608" cy="292608"/>
          </a:xfrm>
          <a:prstGeom prst="ellipse">
            <a:avLst/>
          </a:prstGeom>
          <a:solidFill>
            <a:srgbClr val="E1481F"/>
          </a:solidFill>
          <a:ln/>
        </p:spPr>
      </p:sp>
      <p:pic>
        <p:nvPicPr>
          <p:cNvPr id="5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0986" y="5092842"/>
            <a:ext cx="128748" cy="128748"/>
          </a:xfrm>
          <a:prstGeom prst="rect">
            <a:avLst/>
          </a:prstGeom>
        </p:spPr>
      </p:pic>
      <p:sp>
        <p:nvSpPr>
          <p:cNvPr id="56" name="Text 49"/>
          <p:cNvSpPr/>
          <p:nvPr/>
        </p:nvSpPr>
        <p:spPr>
          <a:xfrm>
            <a:off x="8851392" y="497433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and manager-claim assessment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1481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4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INSIGHTS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3504" y="69494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Built and What I Learned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 built an internal agent that turns a fund name and its source documents into a structured, review-ready memo first draft.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0080" y="236829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Built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85800" y="2971800"/>
            <a:ext cx="384048" cy="384048"/>
          </a:xfrm>
          <a:prstGeom prst="ellipse">
            <a:avLst/>
          </a:prstGeom>
          <a:solidFill>
            <a:srgbClr val="1B2A3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333" y="3079333"/>
            <a:ext cx="168981" cy="16898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43584" y="2916936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name + source documents as input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85800" y="3538728"/>
            <a:ext cx="384048" cy="384048"/>
          </a:xfrm>
          <a:prstGeom prst="ellipse">
            <a:avLst/>
          </a:prstGeom>
          <a:solidFill>
            <a:srgbClr val="1B2A3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333" y="3646261"/>
            <a:ext cx="168981" cy="16898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43584" y="3483864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information across files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85800" y="4105656"/>
            <a:ext cx="384048" cy="384048"/>
          </a:xfrm>
          <a:prstGeom prst="ellipse">
            <a:avLst/>
          </a:prstGeom>
          <a:solidFill>
            <a:srgbClr val="1B2A3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333" y="4213189"/>
            <a:ext cx="168981" cy="16898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43584" y="4050792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Populates standardized memo sections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85800" y="4672584"/>
            <a:ext cx="384048" cy="384048"/>
          </a:xfrm>
          <a:prstGeom prst="ellipse">
            <a:avLst/>
          </a:prstGeom>
          <a:solidFill>
            <a:srgbClr val="1B2A3A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333" y="4780117"/>
            <a:ext cx="168981" cy="16898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43584" y="4617720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structured first draft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4572000" y="236829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700" dirty="0"/>
          </a:p>
        </p:txBody>
      </p:sp>
      <p:sp>
        <p:nvSpPr>
          <p:cNvPr id="20" name="Shape 14"/>
          <p:cNvSpPr/>
          <p:nvPr/>
        </p:nvSpPr>
        <p:spPr>
          <a:xfrm>
            <a:off x="4617720" y="2971800"/>
            <a:ext cx="384048" cy="384048"/>
          </a:xfrm>
          <a:prstGeom prst="ellipse">
            <a:avLst/>
          </a:prstGeom>
          <a:solidFill>
            <a:srgbClr val="E1481F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5253" y="3079333"/>
            <a:ext cx="168981" cy="16898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175504" y="2916936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repetitive document processing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4617720" y="3538728"/>
            <a:ext cx="384048" cy="384048"/>
          </a:xfrm>
          <a:prstGeom prst="ellipse">
            <a:avLst/>
          </a:prstGeom>
          <a:solidFill>
            <a:srgbClr val="E1481F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5253" y="3646261"/>
            <a:ext cx="168981" cy="168981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175504" y="3483864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sub-agents beat one large agent</a:t>
            </a:r>
            <a:endParaRPr lang="en-US" sz="1250" dirty="0"/>
          </a:p>
        </p:txBody>
      </p:sp>
      <p:sp>
        <p:nvSpPr>
          <p:cNvPr id="26" name="Shape 18"/>
          <p:cNvSpPr/>
          <p:nvPr/>
        </p:nvSpPr>
        <p:spPr>
          <a:xfrm>
            <a:off x="4617720" y="4105656"/>
            <a:ext cx="384048" cy="384048"/>
          </a:xfrm>
          <a:prstGeom prst="ellipse">
            <a:avLst/>
          </a:prstGeom>
          <a:solidFill>
            <a:srgbClr val="E1481F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5253" y="4213189"/>
            <a:ext cx="168981" cy="168981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175504" y="4050792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varied even with identical instructions</a:t>
            </a:r>
            <a:endParaRPr lang="en-US" sz="1250" dirty="0"/>
          </a:p>
        </p:txBody>
      </p:sp>
      <p:sp>
        <p:nvSpPr>
          <p:cNvPr id="29" name="Shape 20"/>
          <p:cNvSpPr/>
          <p:nvPr/>
        </p:nvSpPr>
        <p:spPr>
          <a:xfrm>
            <a:off x="4617720" y="4672584"/>
            <a:ext cx="384048" cy="384048"/>
          </a:xfrm>
          <a:prstGeom prst="ellipse">
            <a:avLst/>
          </a:prstGeom>
          <a:solidFill>
            <a:srgbClr val="E1481F"/>
          </a:solidFill>
          <a:ln/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25253" y="4780117"/>
            <a:ext cx="168981" cy="168981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175504" y="4617720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stays essential</a:t>
            </a:r>
            <a:endParaRPr lang="en-US" sz="1250" dirty="0"/>
          </a:p>
        </p:txBody>
      </p:sp>
      <p:sp>
        <p:nvSpPr>
          <p:cNvPr id="32" name="Text 22"/>
          <p:cNvSpPr/>
          <p:nvPr/>
        </p:nvSpPr>
        <p:spPr>
          <a:xfrm>
            <a:off x="8503920" y="236829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Broader Applications</a:t>
            </a:r>
            <a:endParaRPr lang="en-US" sz="1700" dirty="0"/>
          </a:p>
        </p:txBody>
      </p:sp>
      <p:sp>
        <p:nvSpPr>
          <p:cNvPr id="33" name="Shape 23"/>
          <p:cNvSpPr/>
          <p:nvPr/>
        </p:nvSpPr>
        <p:spPr>
          <a:xfrm>
            <a:off x="8549640" y="2971800"/>
            <a:ext cx="384048" cy="384048"/>
          </a:xfrm>
          <a:prstGeom prst="ellipse">
            <a:avLst/>
          </a:prstGeom>
          <a:solidFill>
            <a:srgbClr val="1B2A3A"/>
          </a:solidFill>
          <a:ln/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57173" y="3079333"/>
            <a:ext cx="168981" cy="168981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9107424" y="2916936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investment brief</a:t>
            </a:r>
            <a:endParaRPr lang="en-US" sz="1250" dirty="0"/>
          </a:p>
        </p:txBody>
      </p:sp>
      <p:sp>
        <p:nvSpPr>
          <p:cNvPr id="36" name="Shape 25"/>
          <p:cNvSpPr/>
          <p:nvPr/>
        </p:nvSpPr>
        <p:spPr>
          <a:xfrm>
            <a:off x="8549640" y="3538728"/>
            <a:ext cx="384048" cy="384048"/>
          </a:xfrm>
          <a:prstGeom prst="ellipse">
            <a:avLst/>
          </a:prstGeom>
          <a:solidFill>
            <a:srgbClr val="1B2A3A"/>
          </a:solidFill>
          <a:ln/>
        </p:spPr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57173" y="3646261"/>
            <a:ext cx="168981" cy="168981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9107424" y="3483864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preparation</a:t>
            </a:r>
            <a:endParaRPr lang="en-US" sz="1250" dirty="0"/>
          </a:p>
        </p:txBody>
      </p:sp>
      <p:sp>
        <p:nvSpPr>
          <p:cNvPr id="39" name="Shape 27"/>
          <p:cNvSpPr/>
          <p:nvPr/>
        </p:nvSpPr>
        <p:spPr>
          <a:xfrm>
            <a:off x="8549640" y="4105656"/>
            <a:ext cx="384048" cy="384048"/>
          </a:xfrm>
          <a:prstGeom prst="ellipse">
            <a:avLst/>
          </a:prstGeom>
          <a:solidFill>
            <a:srgbClr val="1B2A3A"/>
          </a:solidFill>
          <a:ln/>
        </p:spPr>
      </p:sp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57173" y="4213189"/>
            <a:ext cx="168981" cy="168981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9107424" y="4050792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Post-meeting follow-up</a:t>
            </a:r>
            <a:endParaRPr lang="en-US" sz="1250" dirty="0"/>
          </a:p>
        </p:txBody>
      </p:sp>
      <p:sp>
        <p:nvSpPr>
          <p:cNvPr id="42" name="Shape 29"/>
          <p:cNvSpPr/>
          <p:nvPr/>
        </p:nvSpPr>
        <p:spPr>
          <a:xfrm>
            <a:off x="8549640" y="4672584"/>
            <a:ext cx="384048" cy="384048"/>
          </a:xfrm>
          <a:prstGeom prst="ellipse">
            <a:avLst/>
          </a:prstGeom>
          <a:solidFill>
            <a:srgbClr val="1B2A3A"/>
          </a:solidFill>
          <a:ln/>
        </p:spPr>
      </p:sp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57173" y="4780117"/>
            <a:ext cx="168981" cy="168981"/>
          </a:xfrm>
          <a:prstGeom prst="rect">
            <a:avLst/>
          </a:prstGeom>
        </p:spPr>
      </p:pic>
      <p:sp>
        <p:nvSpPr>
          <p:cNvPr id="44" name="Text 30"/>
          <p:cNvSpPr/>
          <p:nvPr/>
        </p:nvSpPr>
        <p:spPr>
          <a:xfrm>
            <a:off x="9107424" y="4617720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Cross-document change detection</a:t>
            </a:r>
            <a:endParaRPr lang="en-US" sz="1250" dirty="0"/>
          </a:p>
        </p:txBody>
      </p:sp>
      <p:sp>
        <p:nvSpPr>
          <p:cNvPr id="45" name="Shape 31"/>
          <p:cNvSpPr/>
          <p:nvPr/>
        </p:nvSpPr>
        <p:spPr>
          <a:xfrm>
            <a:off x="640080" y="5212080"/>
            <a:ext cx="10972800" cy="0"/>
          </a:xfrm>
          <a:prstGeom prst="line">
            <a:avLst/>
          </a:prstGeom>
          <a:noFill/>
          <a:ln w="15875">
            <a:solidFill>
              <a:srgbClr val="E7E3DC"/>
            </a:solidFill>
            <a:prstDash val="solid"/>
          </a:ln>
        </p:spPr>
      </p:sp>
      <p:sp>
        <p:nvSpPr>
          <p:cNvPr id="46" name="Shape 32"/>
          <p:cNvSpPr/>
          <p:nvPr/>
        </p:nvSpPr>
        <p:spPr>
          <a:xfrm>
            <a:off x="640080" y="5431536"/>
            <a:ext cx="118872" cy="118872"/>
          </a:xfrm>
          <a:prstGeom prst="rect">
            <a:avLst/>
          </a:prstGeom>
          <a:solidFill>
            <a:srgbClr val="E1481F"/>
          </a:solidFill>
          <a:ln/>
        </p:spPr>
      </p:sp>
      <p:sp>
        <p:nvSpPr>
          <p:cNvPr id="47" name="Text 33"/>
          <p:cNvSpPr/>
          <p:nvPr/>
        </p:nvSpPr>
        <p:spPr>
          <a:xfrm>
            <a:off x="868680" y="53583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14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1150" dirty="0"/>
          </a:p>
        </p:txBody>
      </p:sp>
      <p:sp>
        <p:nvSpPr>
          <p:cNvPr id="48" name="Text 34"/>
          <p:cNvSpPr/>
          <p:nvPr/>
        </p:nvSpPr>
        <p:spPr>
          <a:xfrm>
            <a:off x="640080" y="563270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reallocate analyst time away from information processing toward higher-value investment work.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2026-07-30T03:38:58Z</dcterms:created>
  <dcterms:modified xsi:type="dcterms:W3CDTF">2026-07-30T03:38:58Z</dcterms:modified>
</cp:coreProperties>
</file>